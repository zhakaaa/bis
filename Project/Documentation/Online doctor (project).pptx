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23" r:id="rId14"/>
    <p:sldId id="319" r:id="rId15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88" autoAdjust="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8992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ru-RU"/>
            </a:defPPr>
          </a:lstStyle>
          <a:p>
            <a:pPr rtl="0"/>
            <a:r>
              <a:rPr lang="en-US" dirty="0"/>
              <a:t>Online doctor</a:t>
            </a:r>
            <a:br>
              <a:rPr lang="en-US" dirty="0"/>
            </a:br>
            <a:r>
              <a:rPr lang="en-US" dirty="0"/>
              <a:t>appointment</a:t>
            </a:r>
            <a:br>
              <a:rPr lang="en-US" dirty="0"/>
            </a:br>
            <a:r>
              <a:rPr lang="en-US" dirty="0"/>
              <a:t>system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584" y="457199"/>
            <a:ext cx="6583680" cy="63914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Team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974" y="1164460"/>
            <a:ext cx="6583680" cy="748316"/>
          </a:xfrm>
        </p:spPr>
        <p:txBody>
          <a:bodyPr rtlCol="0"/>
          <a:lstStyle>
            <a:defPPr>
              <a:defRPr lang="ru-RU"/>
            </a:def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Torekhan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Zhaksylyk (Frontend),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Kayirzhan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Erasyl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(Backend)</a:t>
            </a: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D1115057-ED24-61D6-D2B4-CC9EF66A19FE}"/>
              </a:ext>
            </a:extLst>
          </p:cNvPr>
          <p:cNvSpPr txBox="1">
            <a:spLocks/>
          </p:cNvSpPr>
          <p:nvPr/>
        </p:nvSpPr>
        <p:spPr>
          <a:xfrm>
            <a:off x="872584" y="3026228"/>
            <a:ext cx="6583680" cy="639146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AIm</a:t>
            </a:r>
            <a:endParaRPr lang="en-US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53CA820A-1FE8-8D50-2BE7-09083246F01C}"/>
              </a:ext>
            </a:extLst>
          </p:cNvPr>
          <p:cNvSpPr txBox="1">
            <a:spLocks/>
          </p:cNvSpPr>
          <p:nvPr/>
        </p:nvSpPr>
        <p:spPr>
          <a:xfrm>
            <a:off x="765974" y="4030510"/>
            <a:ext cx="4981683" cy="748316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To provide patients with an easy way to book appointments with doctors online.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603" y="1035698"/>
            <a:ext cx="5723586" cy="1116759"/>
          </a:xfrm>
        </p:spPr>
        <p:txBody>
          <a:bodyPr rtlCol="0"/>
          <a:lstStyle>
            <a:defPPr>
              <a:defRPr lang="ru-RU"/>
            </a:def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Project </a:t>
            </a:r>
            <a:b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Objectives</a:t>
            </a:r>
            <a:endParaRPr lang="ru-R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68DBCC-86C6-913E-105D-CE8E49A97BBB}"/>
              </a:ext>
            </a:extLst>
          </p:cNvPr>
          <p:cNvSpPr txBox="1">
            <a:spLocks/>
          </p:cNvSpPr>
          <p:nvPr/>
        </p:nvSpPr>
        <p:spPr>
          <a:xfrm>
            <a:off x="5468603" y="2805604"/>
            <a:ext cx="4981683" cy="748316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Enable patients to search and book doctors.</a:t>
            </a:r>
            <a:endParaRPr lang="ru-RU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Allow doctors to manage their schedule.</a:t>
            </a:r>
            <a:endParaRPr lang="ru-RU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Provide admin with basic oversight.</a:t>
            </a:r>
            <a:endParaRPr lang="ru-RU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5 Questions Your Doctor Wishes You'd Ask">
            <a:extLst>
              <a:ext uri="{FF2B5EF4-FFF2-40B4-BE49-F238E27FC236}">
                <a16:creationId xmlns:a16="http://schemas.microsoft.com/office/drawing/2014/main" id="{C3239A36-E9B9-D335-1D0D-5D4EEEF2BB6E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15" r="2721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446" y="474234"/>
            <a:ext cx="5259554" cy="7437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Functionality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549" y="1575516"/>
            <a:ext cx="5259554" cy="500256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en-US" dirty="0"/>
              <a:t>Patient side: </a:t>
            </a:r>
            <a:br>
              <a:rPr lang="en-US" dirty="0"/>
            </a:br>
            <a:r>
              <a:rPr lang="en-US" dirty="0"/>
              <a:t>Account Management</a:t>
            </a:r>
          </a:p>
          <a:p>
            <a:pPr rtl="0"/>
            <a:r>
              <a:rPr lang="en-US" dirty="0"/>
              <a:t>Appointment Booking</a:t>
            </a:r>
          </a:p>
          <a:p>
            <a:pPr rtl="0"/>
            <a:r>
              <a:rPr lang="en-US" dirty="0"/>
              <a:t>Payment Integration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Doctor side:</a:t>
            </a:r>
            <a:br>
              <a:rPr lang="en-US" dirty="0"/>
            </a:br>
            <a:r>
              <a:rPr lang="en-US" dirty="0"/>
              <a:t>Professional Dashboard</a:t>
            </a:r>
            <a:br>
              <a:rPr lang="en-US" dirty="0"/>
            </a:br>
            <a:r>
              <a:rPr lang="en-US" dirty="0"/>
              <a:t>Appointment Management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Admin:</a:t>
            </a:r>
          </a:p>
          <a:p>
            <a:pPr rtl="0"/>
            <a:r>
              <a:rPr lang="en-US" dirty="0"/>
              <a:t>System Overview</a:t>
            </a:r>
            <a:br>
              <a:rPr lang="en-US" dirty="0"/>
            </a:br>
            <a:r>
              <a:rPr lang="en-US" dirty="0"/>
              <a:t>Data Management</a:t>
            </a:r>
            <a:br>
              <a:rPr lang="en-US" dirty="0"/>
            </a:br>
            <a:r>
              <a:rPr lang="en-US" dirty="0"/>
              <a:t>API Endpoints</a:t>
            </a:r>
          </a:p>
          <a:p>
            <a:pPr rtl="0"/>
            <a:endParaRPr lang="ru-RU" dirty="0"/>
          </a:p>
        </p:txBody>
      </p:sp>
      <p:pic>
        <p:nvPicPr>
          <p:cNvPr id="2050" name="Picture 2" descr="Medical Doctors | Faircape Health">
            <a:extLst>
              <a:ext uri="{FF2B5EF4-FFF2-40B4-BE49-F238E27FC236}">
                <a16:creationId xmlns:a16="http://schemas.microsoft.com/office/drawing/2014/main" id="{5EBBE903-DC16-ADC6-1C92-9D048F02B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423" y="2349582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edical Doctors | Faircape Health">
            <a:extLst>
              <a:ext uri="{FF2B5EF4-FFF2-40B4-BE49-F238E27FC236}">
                <a16:creationId xmlns:a16="http://schemas.microsoft.com/office/drawing/2014/main" id="{545086D8-0594-E8E8-A379-4B8776834970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23" r="27523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63110"/>
            <a:ext cx="7965461" cy="99416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Tools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59472" y="1536288"/>
            <a:ext cx="7965460" cy="5338742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marL="0" indent="0" rtl="0">
              <a:buNone/>
            </a:pPr>
            <a:r>
              <a:rPr lang="en-US" sz="2000" b="1" dirty="0"/>
              <a:t>Backend Development:</a:t>
            </a:r>
          </a:p>
          <a:p>
            <a:pPr marL="0" indent="0" rtl="0">
              <a:buNone/>
            </a:pPr>
            <a:r>
              <a:rPr lang="en-US" sz="2000" dirty="0"/>
              <a:t>Language: Go (Golang) </a:t>
            </a:r>
          </a:p>
          <a:p>
            <a:pPr marL="0" indent="0" rtl="0">
              <a:buNone/>
            </a:pPr>
            <a:r>
              <a:rPr lang="en-US" sz="2000" dirty="0"/>
              <a:t>Web Framework: GIN</a:t>
            </a:r>
          </a:p>
          <a:p>
            <a:pPr marL="0" indent="0" rtl="0">
              <a:buNone/>
            </a:pPr>
            <a:r>
              <a:rPr lang="en-US" sz="2000" dirty="0"/>
              <a:t>Database: PostgreSQL </a:t>
            </a:r>
          </a:p>
          <a:p>
            <a:pPr marL="0" indent="0" rtl="0">
              <a:buNone/>
            </a:pPr>
            <a:r>
              <a:rPr lang="en-US" sz="2000" dirty="0"/>
              <a:t>Authentication: </a:t>
            </a:r>
            <a:r>
              <a:rPr lang="en-US" sz="2000" dirty="0" err="1"/>
              <a:t>bcrypt</a:t>
            </a:r>
            <a:r>
              <a:rPr lang="en-US" sz="2000" dirty="0"/>
              <a:t> password hashing</a:t>
            </a:r>
          </a:p>
          <a:p>
            <a:pPr marL="0" indent="0" rtl="0">
              <a:buNone/>
            </a:pPr>
            <a:r>
              <a:rPr lang="en-US" sz="2000" dirty="0"/>
              <a:t>Session Management: In-memory sessions (HTTP cookies)</a:t>
            </a:r>
          </a:p>
          <a:p>
            <a:pPr marL="0" indent="0" rtl="0">
              <a:buNone/>
            </a:pPr>
            <a:endParaRPr lang="en-US" sz="2000" dirty="0"/>
          </a:p>
          <a:p>
            <a:pPr marL="0" indent="0" rtl="0">
              <a:buNone/>
            </a:pPr>
            <a:r>
              <a:rPr lang="en-US" sz="2000" b="1" dirty="0"/>
              <a:t>Frontend Development:</a:t>
            </a:r>
          </a:p>
          <a:p>
            <a:pPr marL="0" indent="0" rtl="0">
              <a:buNone/>
            </a:pPr>
            <a:r>
              <a:rPr lang="en-US" sz="2000" dirty="0"/>
              <a:t>Markup: HTML5 </a:t>
            </a:r>
          </a:p>
          <a:p>
            <a:pPr marL="0" indent="0" rtl="0">
              <a:buNone/>
            </a:pPr>
            <a:r>
              <a:rPr lang="en-US" sz="2000" dirty="0"/>
              <a:t>Styling: CSS3 with Flexbox/Grid layouts</a:t>
            </a:r>
          </a:p>
          <a:p>
            <a:pPr marL="0" indent="0" rtl="0">
              <a:buNone/>
            </a:pPr>
            <a:r>
              <a:rPr lang="en-US" sz="2000" dirty="0"/>
              <a:t>Interactivity: JavaScript </a:t>
            </a:r>
          </a:p>
          <a:p>
            <a:pPr marL="0" indent="0" rtl="0">
              <a:buNone/>
            </a:pPr>
            <a:r>
              <a:rPr lang="en-US" sz="2000" dirty="0"/>
              <a:t>Design: Responsive, mobile-first approach</a:t>
            </a:r>
          </a:p>
          <a:p>
            <a:pPr marL="0" indent="0" rtl="0">
              <a:buNone/>
            </a:pPr>
            <a:endParaRPr lang="en-US" sz="2000" dirty="0"/>
          </a:p>
        </p:txBody>
      </p: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z="2000" smtClean="0"/>
              <a:pPr/>
              <a:t>5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5885180" cy="252021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Выбор визуальных средств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Совершенствование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Эффективные методы презентации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727269" cy="372033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Это мощный инструмент для выступлений перед слушателями. Он позволяет менять интонацию, тон и громкость, чтобы выразить чувства, подчеркнуть определенные моменты и удерживать интерес аудитории. </a:t>
            </a:r>
          </a:p>
          <a:p>
            <a:pPr lvl="1" rtl="0"/>
            <a:r>
              <a:rPr lang="ru-RU" dirty="0"/>
              <a:t>Вариации интонации</a:t>
            </a:r>
          </a:p>
          <a:p>
            <a:pPr lvl="1" rtl="0"/>
            <a:r>
              <a:rPr lang="ru-RU" dirty="0"/>
              <a:t>Вариации тона</a:t>
            </a:r>
          </a:p>
          <a:p>
            <a:pPr lvl="1" rtl="0"/>
            <a:r>
              <a:rPr lang="ru-RU" dirty="0"/>
              <a:t>Управление громкостью</a:t>
            </a:r>
          </a:p>
        </p:txBody>
      </p:sp>
      <p:sp>
        <p:nvSpPr>
          <p:cNvPr id="17" name="Объект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665155" cy="372033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Эффективный язык тела улучшает ваше сообщение, делая его более эффектным и запоминающимся.</a:t>
            </a:r>
          </a:p>
          <a:p>
            <a:pPr lvl="1" rtl="0"/>
            <a:r>
              <a:rPr lang="ru-RU" dirty="0"/>
              <a:t>Осмысленный зрительный контакт</a:t>
            </a:r>
          </a:p>
          <a:p>
            <a:pPr lvl="1" rtl="0"/>
            <a:r>
              <a:rPr lang="ru-RU" dirty="0"/>
              <a:t>Целенаправленные жесты</a:t>
            </a:r>
          </a:p>
          <a:p>
            <a:pPr lvl="1" rtl="0"/>
            <a:r>
              <a:rPr lang="ru-RU" dirty="0"/>
              <a:t>Хорошая осанка</a:t>
            </a:r>
          </a:p>
          <a:p>
            <a:pPr lvl="1" rtl="0"/>
            <a:r>
              <a:rPr lang="ru-RU" dirty="0"/>
              <a:t>Управление выражением лица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692943"/>
            <a:ext cx="7155402" cy="109162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it-IT" dirty="0"/>
              <a:t>Sarah Chen, 28, Software Developer</a:t>
            </a:r>
            <a:endParaRPr lang="ru-RU" dirty="0"/>
          </a:p>
        </p:txBody>
      </p:sp>
      <p:pic>
        <p:nvPicPr>
          <p:cNvPr id="10" name="Рисунок 9" descr="Человек в синем костюме и наушниках указывает на компьютер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289F3-6457-7DD8-5365-60D0F352DB93}"/>
              </a:ext>
            </a:extLst>
          </p:cNvPr>
          <p:cNvSpPr txBox="1"/>
          <p:nvPr/>
        </p:nvSpPr>
        <p:spPr>
          <a:xfrm>
            <a:off x="914401" y="2145097"/>
            <a:ext cx="61115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6"/>
                </a:solidFill>
              </a:rPr>
              <a:t>Profile:</a:t>
            </a:r>
          </a:p>
          <a:p>
            <a:r>
              <a:rPr lang="ru-RU" dirty="0">
                <a:solidFill>
                  <a:schemeClr val="accent6"/>
                </a:solidFill>
              </a:rPr>
              <a:t>- High </a:t>
            </a:r>
            <a:r>
              <a:rPr lang="en-US" noProof="1">
                <a:solidFill>
                  <a:schemeClr val="accent6"/>
                </a:solidFill>
              </a:rPr>
              <a:t>income</a:t>
            </a:r>
            <a:r>
              <a:rPr lang="ru-RU" dirty="0">
                <a:solidFill>
                  <a:schemeClr val="accent6"/>
                </a:solidFill>
              </a:rPr>
              <a:t> ($2,000/</a:t>
            </a:r>
            <a:r>
              <a:rPr lang="ru-RU" dirty="0" err="1">
                <a:solidFill>
                  <a:schemeClr val="accent6"/>
                </a:solidFill>
              </a:rPr>
              <a:t>month</a:t>
            </a:r>
            <a:r>
              <a:rPr lang="ru-RU" dirty="0">
                <a:solidFill>
                  <a:schemeClr val="accent6"/>
                </a:solidFill>
              </a:rPr>
              <a:t>), </a:t>
            </a:r>
            <a:r>
              <a:rPr lang="ru-RU" dirty="0" err="1">
                <a:solidFill>
                  <a:schemeClr val="accent6"/>
                </a:solidFill>
              </a:rPr>
              <a:t>busy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lifestyle</a:t>
            </a:r>
            <a:endParaRPr lang="ru-RU" dirty="0">
              <a:solidFill>
                <a:schemeClr val="accent6"/>
              </a:solidFill>
            </a:endParaRPr>
          </a:p>
          <a:p>
            <a:r>
              <a:rPr lang="ru-RU" dirty="0">
                <a:solidFill>
                  <a:schemeClr val="accent6"/>
                </a:solidFill>
              </a:rPr>
              <a:t>- Expert </a:t>
            </a:r>
            <a:r>
              <a:rPr lang="ru-RU" dirty="0" err="1">
                <a:solidFill>
                  <a:schemeClr val="accent6"/>
                </a:solidFill>
              </a:rPr>
              <a:t>tech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user</a:t>
            </a:r>
            <a:r>
              <a:rPr lang="ru-RU" dirty="0">
                <a:solidFill>
                  <a:schemeClr val="accent6"/>
                </a:solidFill>
              </a:rPr>
              <a:t>, </a:t>
            </a:r>
            <a:r>
              <a:rPr lang="ru-RU" dirty="0" err="1">
                <a:solidFill>
                  <a:schemeClr val="accent6"/>
                </a:solidFill>
              </a:rPr>
              <a:t>expects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modern</a:t>
            </a:r>
            <a:r>
              <a:rPr lang="ru-RU" dirty="0">
                <a:solidFill>
                  <a:schemeClr val="accent6"/>
                </a:solidFill>
              </a:rPr>
              <a:t> UX</a:t>
            </a:r>
          </a:p>
          <a:p>
            <a:r>
              <a:rPr lang="ru-RU" dirty="0">
                <a:solidFill>
                  <a:schemeClr val="accent6"/>
                </a:solidFill>
              </a:rPr>
              <a:t>- </a:t>
            </a:r>
            <a:r>
              <a:rPr lang="ru-RU" dirty="0" err="1">
                <a:solidFill>
                  <a:schemeClr val="accent6"/>
                </a:solidFill>
              </a:rPr>
              <a:t>Values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speed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and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convenience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over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cost</a:t>
            </a:r>
            <a:endParaRPr lang="ru-RU" dirty="0">
              <a:solidFill>
                <a:schemeClr val="accent6"/>
              </a:solidFill>
            </a:endParaRPr>
          </a:p>
          <a:p>
            <a:endParaRPr lang="ru-RU" dirty="0">
              <a:solidFill>
                <a:schemeClr val="accent6"/>
              </a:solidFill>
            </a:endParaRPr>
          </a:p>
          <a:p>
            <a:r>
              <a:rPr lang="ru-RU" dirty="0" err="1">
                <a:solidFill>
                  <a:schemeClr val="accent6"/>
                </a:solidFill>
              </a:rPr>
              <a:t>Healthcare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Needs</a:t>
            </a:r>
            <a:r>
              <a:rPr lang="ru-RU" dirty="0">
                <a:solidFill>
                  <a:schemeClr val="accent6"/>
                </a:solidFill>
              </a:rPr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- Quick </a:t>
            </a:r>
            <a:r>
              <a:rPr lang="ru-RU" dirty="0" err="1">
                <a:solidFill>
                  <a:schemeClr val="accent6"/>
                </a:solidFill>
              </a:rPr>
              <a:t>online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booking</a:t>
            </a:r>
            <a:r>
              <a:rPr lang="ru-RU" dirty="0">
                <a:solidFill>
                  <a:schemeClr val="accent6"/>
                </a:solidFill>
              </a:rPr>
              <a:t> (</a:t>
            </a:r>
            <a:r>
              <a:rPr lang="ru-RU" dirty="0" err="1">
                <a:solidFill>
                  <a:schemeClr val="accent6"/>
                </a:solidFill>
              </a:rPr>
              <a:t>prefers</a:t>
            </a:r>
            <a:r>
              <a:rPr lang="ru-RU" dirty="0">
                <a:solidFill>
                  <a:schemeClr val="accent6"/>
                </a:solidFill>
              </a:rPr>
              <a:t> 24/7 </a:t>
            </a:r>
            <a:r>
              <a:rPr lang="ru-RU" dirty="0" err="1">
                <a:solidFill>
                  <a:schemeClr val="accent6"/>
                </a:solidFill>
              </a:rPr>
              <a:t>availability</a:t>
            </a:r>
            <a:r>
              <a:rPr lang="ru-RU" dirty="0">
                <a:solidFill>
                  <a:schemeClr val="accent6"/>
                </a:solidFill>
              </a:rPr>
              <a:t>)</a:t>
            </a:r>
          </a:p>
          <a:p>
            <a:r>
              <a:rPr lang="ru-RU" dirty="0">
                <a:solidFill>
                  <a:schemeClr val="accent6"/>
                </a:solidFill>
              </a:rPr>
              <a:t>- </a:t>
            </a:r>
            <a:r>
              <a:rPr lang="ru-RU" dirty="0" err="1">
                <a:solidFill>
                  <a:schemeClr val="accent6"/>
                </a:solidFill>
              </a:rPr>
              <a:t>Transparent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pricing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with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instant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payment</a:t>
            </a:r>
            <a:endParaRPr lang="ru-RU" dirty="0">
              <a:solidFill>
                <a:schemeClr val="accent6"/>
              </a:solidFill>
            </a:endParaRPr>
          </a:p>
          <a:p>
            <a:r>
              <a:rPr lang="ru-RU" dirty="0">
                <a:solidFill>
                  <a:schemeClr val="accent6"/>
                </a:solidFill>
              </a:rPr>
              <a:t>- </a:t>
            </a:r>
            <a:r>
              <a:rPr lang="ru-RU" dirty="0" err="1">
                <a:solidFill>
                  <a:schemeClr val="accent6"/>
                </a:solidFill>
              </a:rPr>
              <a:t>Minimal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waiting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time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and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efficient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process</a:t>
            </a:r>
            <a:endParaRPr lang="ru-RU" dirty="0">
              <a:solidFill>
                <a:schemeClr val="accent6"/>
              </a:solidFill>
            </a:endParaRPr>
          </a:p>
          <a:p>
            <a:endParaRPr lang="ru-RU" dirty="0">
              <a:solidFill>
                <a:schemeClr val="accent6"/>
              </a:solidFill>
            </a:endParaRPr>
          </a:p>
          <a:p>
            <a:r>
              <a:rPr lang="ru-RU" dirty="0" err="1">
                <a:solidFill>
                  <a:schemeClr val="accent6"/>
                </a:solidFill>
              </a:rPr>
              <a:t>App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Usage</a:t>
            </a:r>
            <a:r>
              <a:rPr lang="ru-RU" dirty="0">
                <a:solidFill>
                  <a:schemeClr val="accent6"/>
                </a:solidFill>
              </a:rPr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- </a:t>
            </a:r>
            <a:r>
              <a:rPr lang="ru-RU" dirty="0" err="1">
                <a:solidFill>
                  <a:schemeClr val="accent6"/>
                </a:solidFill>
              </a:rPr>
              <a:t>Books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immediately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when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feeling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symptoms</a:t>
            </a:r>
            <a:endParaRPr lang="ru-RU" dirty="0">
              <a:solidFill>
                <a:schemeClr val="accent6"/>
              </a:solidFill>
            </a:endParaRPr>
          </a:p>
          <a:p>
            <a:r>
              <a:rPr lang="ru-RU" dirty="0">
                <a:solidFill>
                  <a:schemeClr val="accent6"/>
                </a:solidFill>
              </a:rPr>
              <a:t>- </a:t>
            </a:r>
            <a:r>
              <a:rPr lang="ru-RU" dirty="0" err="1">
                <a:solidFill>
                  <a:schemeClr val="accent6"/>
                </a:solidFill>
              </a:rPr>
              <a:t>Prefers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specialists</a:t>
            </a:r>
            <a:r>
              <a:rPr lang="ru-RU" dirty="0">
                <a:solidFill>
                  <a:schemeClr val="accent6"/>
                </a:solidFill>
              </a:rPr>
              <a:t> (</a:t>
            </a:r>
            <a:r>
              <a:rPr lang="ru-RU" dirty="0" err="1">
                <a:solidFill>
                  <a:schemeClr val="accent6"/>
                </a:solidFill>
              </a:rPr>
              <a:t>Dermatology</a:t>
            </a:r>
            <a:r>
              <a:rPr lang="ru-RU" dirty="0">
                <a:solidFill>
                  <a:schemeClr val="accent6"/>
                </a:solidFill>
              </a:rPr>
              <a:t>, </a:t>
            </a:r>
            <a:r>
              <a:rPr lang="ru-RU" dirty="0" err="1">
                <a:solidFill>
                  <a:schemeClr val="accent6"/>
                </a:solidFill>
              </a:rPr>
              <a:t>Cardiology</a:t>
            </a:r>
            <a:r>
              <a:rPr lang="ru-RU" dirty="0">
                <a:solidFill>
                  <a:schemeClr val="accent6"/>
                </a:solidFill>
              </a:rPr>
              <a:t>)</a:t>
            </a:r>
          </a:p>
          <a:p>
            <a:r>
              <a:rPr lang="ru-RU" dirty="0">
                <a:solidFill>
                  <a:schemeClr val="accent6"/>
                </a:solidFill>
              </a:rPr>
              <a:t>- </a:t>
            </a:r>
            <a:r>
              <a:rPr lang="ru-RU" dirty="0" err="1">
                <a:solidFill>
                  <a:schemeClr val="accent6"/>
                </a:solidFill>
              </a:rPr>
              <a:t>Pays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with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Kaspi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without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hesitation</a:t>
            </a:r>
            <a:endParaRPr lang="ru-RU" dirty="0">
              <a:solidFill>
                <a:schemeClr val="accent6"/>
              </a:solidFill>
            </a:endParaRPr>
          </a:p>
          <a:p>
            <a:r>
              <a:rPr lang="ru-RU" dirty="0">
                <a:solidFill>
                  <a:schemeClr val="accent6"/>
                </a:solidFill>
              </a:rPr>
              <a:t>- </a:t>
            </a:r>
            <a:r>
              <a:rPr lang="ru-RU" dirty="0" err="1">
                <a:solidFill>
                  <a:schemeClr val="accent6"/>
                </a:solidFill>
              </a:rPr>
              <a:t>Leaves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detailed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appointment</a:t>
            </a:r>
            <a:r>
              <a:rPr lang="ru-RU" dirty="0">
                <a:solidFill>
                  <a:schemeClr val="accent6"/>
                </a:solidFill>
              </a:rPr>
              <a:t> </a:t>
            </a:r>
            <a:r>
              <a:rPr lang="ru-RU" dirty="0" err="1">
                <a:solidFill>
                  <a:schemeClr val="accent6"/>
                </a:solidFill>
              </a:rPr>
              <a:t>notes</a:t>
            </a:r>
            <a:endParaRPr lang="ru-RU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Aida Nazarbayeva, 35, Part-time Accountant &amp; Mother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5069" y="2397967"/>
            <a:ext cx="7371184" cy="4084849"/>
          </a:xfrm>
        </p:spPr>
        <p:txBody>
          <a:bodyPr rtlCol="0">
            <a:normAutofit fontScale="85000" lnSpcReduction="20000"/>
          </a:bodyPr>
          <a:lstStyle>
            <a:defPPr>
              <a:defRPr lang="ru-RU"/>
            </a:defPPr>
          </a:lstStyle>
          <a:p>
            <a:pPr rtl="0"/>
            <a:r>
              <a:rPr lang="en-US" dirty="0"/>
              <a:t>Profile:</a:t>
            </a:r>
          </a:p>
          <a:p>
            <a:pPr rtl="0"/>
            <a:r>
              <a:rPr lang="en-US" dirty="0"/>
              <a:t>- Moderate income ($800/month), family-focused</a:t>
            </a:r>
          </a:p>
          <a:p>
            <a:pPr rtl="0"/>
            <a:r>
              <a:rPr lang="en-US" dirty="0"/>
              <a:t>- Basic-intermediate tech skills</a:t>
            </a:r>
          </a:p>
          <a:p>
            <a:pPr rtl="0"/>
            <a:r>
              <a:rPr lang="en-US" dirty="0"/>
              <a:t>- Budget-conscious but health-prioritized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Healthcare Needs:</a:t>
            </a:r>
          </a:p>
          <a:p>
            <a:pPr rtl="0"/>
            <a:r>
              <a:rPr lang="en-US" dirty="0"/>
              <a:t>- Family appointment coordination</a:t>
            </a:r>
          </a:p>
          <a:p>
            <a:pPr rtl="0"/>
            <a:r>
              <a:rPr lang="en-US" dirty="0"/>
              <a:t>- Cost transparency and payment flexibility</a:t>
            </a:r>
          </a:p>
          <a:p>
            <a:pPr rtl="0"/>
            <a:r>
              <a:rPr lang="en-US" dirty="0"/>
              <a:t>- Reliable, experienced doctors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App Usage:</a:t>
            </a:r>
          </a:p>
          <a:p>
            <a:pPr rtl="0"/>
            <a:r>
              <a:rPr lang="en-US" dirty="0"/>
              <a:t>- Books for family members (husband + 2 kids)</a:t>
            </a:r>
          </a:p>
          <a:p>
            <a:pPr rtl="0"/>
            <a:r>
              <a:rPr lang="en-US" dirty="0"/>
              <a:t>- Compares consultation fees before booking</a:t>
            </a:r>
          </a:p>
          <a:p>
            <a:pPr rtl="0"/>
            <a:r>
              <a:rPr lang="en-US" dirty="0"/>
              <a:t>- Uses "Pay Later" option frequently  </a:t>
            </a:r>
          </a:p>
          <a:p>
            <a:pPr rtl="0"/>
            <a:r>
              <a:rPr lang="en-US" dirty="0"/>
              <a:t>- Prefers General Practice and Pediatrics</a:t>
            </a:r>
            <a:endParaRPr lang="ru-RU" dirty="0"/>
          </a:p>
        </p:txBody>
      </p:sp>
      <p:pic>
        <p:nvPicPr>
          <p:cNvPr id="7" name="Рисунок 6" descr="Человек в очках и синей рубашке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692943"/>
            <a:ext cx="7155402" cy="109162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Marat </a:t>
            </a:r>
            <a:r>
              <a:rPr lang="en-US" dirty="0" err="1"/>
              <a:t>Abdullaev</a:t>
            </a:r>
            <a:r>
              <a:rPr lang="en-US" dirty="0"/>
              <a:t>, 32, Retired Teacher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10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289F3-6457-7DD8-5365-60D0F352DB93}"/>
              </a:ext>
            </a:extLst>
          </p:cNvPr>
          <p:cNvSpPr txBox="1"/>
          <p:nvPr/>
        </p:nvSpPr>
        <p:spPr>
          <a:xfrm>
            <a:off x="914401" y="2145097"/>
            <a:ext cx="61115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Profile:</a:t>
            </a:r>
          </a:p>
          <a:p>
            <a:r>
              <a:rPr lang="en-US" dirty="0">
                <a:solidFill>
                  <a:schemeClr val="accent6"/>
                </a:solidFill>
              </a:rPr>
              <a:t>- Fixed income ($400/month), health-conscious</a:t>
            </a:r>
          </a:p>
          <a:p>
            <a:r>
              <a:rPr lang="en-US" dirty="0">
                <a:solidFill>
                  <a:schemeClr val="accent6"/>
                </a:solidFill>
              </a:rPr>
              <a:t>- Basic tech skills, needs simple interface</a:t>
            </a:r>
          </a:p>
          <a:p>
            <a:r>
              <a:rPr lang="en-US" dirty="0">
                <a:solidFill>
                  <a:schemeClr val="accent6"/>
                </a:solidFill>
              </a:rPr>
              <a:t>- Values doctor experience and personal care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Healthcare Needs:</a:t>
            </a:r>
          </a:p>
          <a:p>
            <a:r>
              <a:rPr lang="en-US" dirty="0">
                <a:solidFill>
                  <a:schemeClr val="accent6"/>
                </a:solidFill>
              </a:rPr>
              <a:t>- Easy navigation with large text</a:t>
            </a:r>
          </a:p>
          <a:p>
            <a:r>
              <a:rPr lang="en-US" dirty="0">
                <a:solidFill>
                  <a:schemeClr val="accent6"/>
                </a:solidFill>
              </a:rPr>
              <a:t>- Pay-later option (security concerns with online payment)</a:t>
            </a:r>
          </a:p>
          <a:p>
            <a:r>
              <a:rPr lang="en-US" dirty="0">
                <a:solidFill>
                  <a:schemeClr val="accent6"/>
                </a:solidFill>
              </a:rPr>
              <a:t>- Experienced doctors for regular checkups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App Usage:</a:t>
            </a:r>
          </a:p>
          <a:p>
            <a:r>
              <a:rPr lang="en-US" dirty="0">
                <a:solidFill>
                  <a:schemeClr val="accent6"/>
                </a:solidFill>
              </a:rPr>
              <a:t>- Needs help from family for initial setup</a:t>
            </a:r>
          </a:p>
          <a:p>
            <a:r>
              <a:rPr lang="en-US" dirty="0">
                <a:solidFill>
                  <a:schemeClr val="accent6"/>
                </a:solidFill>
              </a:rPr>
              <a:t>- Books well in advance (plans ahead)</a:t>
            </a:r>
          </a:p>
          <a:p>
            <a:r>
              <a:rPr lang="en-US" dirty="0">
                <a:solidFill>
                  <a:schemeClr val="accent6"/>
                </a:solidFill>
              </a:rPr>
              <a:t>- Prefers established doctors with high experience</a:t>
            </a:r>
          </a:p>
          <a:p>
            <a:r>
              <a:rPr lang="en-US" dirty="0">
                <a:solidFill>
                  <a:schemeClr val="accent6"/>
                </a:solidFill>
              </a:rPr>
              <a:t>- Uses demo accounts shown on login page</a:t>
            </a:r>
            <a:endParaRPr lang="ru-RU" dirty="0">
              <a:solidFill>
                <a:schemeClr val="accent6"/>
              </a:solidFill>
            </a:endParaRPr>
          </a:p>
        </p:txBody>
      </p:sp>
      <p:pic>
        <p:nvPicPr>
          <p:cNvPr id="3074" name="Picture 2" descr="Handsome Kazakh guy - Azamat🇰🇿😍🔥 Qazaq guy❤️‍🔥&gt;&gt;&gt; tags (ignore):  #qazaqstan #qazaq #kazakhboy #kazakhstan #kazakh #handsome #boy  #handsomeboy #turkic #kipchaks #ａｅｓｔｈｅｔｉｃ #aesthetic #photo #instagram  #like #comment #қазақ #казах ...">
            <a:extLst>
              <a:ext uri="{FF2B5EF4-FFF2-40B4-BE49-F238E27FC236}">
                <a16:creationId xmlns:a16="http://schemas.microsoft.com/office/drawing/2014/main" id="{2DCCAE87-FE79-AE9E-E5DA-C5C4F76FE994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3" r="16073"/>
          <a:stretch>
            <a:fillRect/>
          </a:stretch>
        </p:blipFill>
        <p:spPr bwMode="auto">
          <a:xfrm>
            <a:off x="8989455" y="965393"/>
            <a:ext cx="3202545" cy="5892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965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951" y="2938578"/>
            <a:ext cx="9879437" cy="98084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Competitive </a:t>
            </a:r>
            <a:br>
              <a:rPr lang="en-US" dirty="0"/>
            </a:br>
            <a:r>
              <a:rPr lang="en-US" dirty="0"/>
              <a:t>analysis</a:t>
            </a: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11</a:t>
            </a:fld>
            <a:endParaRPr lang="ru-R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916ADE-257A-BDCA-8545-1186969B7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744" y="0"/>
            <a:ext cx="53946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{36E4CF2C-51A1-4E72-A9D2-47E16F654169}TF8a9b5915-b8c7-461e-8cdd-693d48b5e323138ae9a7_win32-fecfc327da1f</Template>
  <TotalTime>22</TotalTime>
  <Words>482</Words>
  <Application>Microsoft Office PowerPoint</Application>
  <PresentationFormat>Widescreen</PresentationFormat>
  <Paragraphs>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Arial Black</vt:lpstr>
      <vt:lpstr>Calibri</vt:lpstr>
      <vt:lpstr>Symbol</vt:lpstr>
      <vt:lpstr>Times new Roman</vt:lpstr>
      <vt:lpstr>Times new Roman</vt:lpstr>
      <vt:lpstr>Пользовательская</vt:lpstr>
      <vt:lpstr>Online doctor appointment system</vt:lpstr>
      <vt:lpstr>Team</vt:lpstr>
      <vt:lpstr>Project  Objectives</vt:lpstr>
      <vt:lpstr>Functionality</vt:lpstr>
      <vt:lpstr>Tools</vt:lpstr>
      <vt:lpstr>Выбор визуальных средств</vt:lpstr>
      <vt:lpstr>Эффективные методы презентации</vt:lpstr>
      <vt:lpstr>Sarah Chen, 28, Software Developer</vt:lpstr>
      <vt:lpstr>Aida Nazarbayeva, 35, Part-time Accountant &amp; Mother</vt:lpstr>
      <vt:lpstr>Marat Abdullaev, 32, Retired Teacher</vt:lpstr>
      <vt:lpstr>Competitive 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Zhaksylyk</dc:creator>
  <cp:lastModifiedBy>Zhaksylyk</cp:lastModifiedBy>
  <cp:revision>1</cp:revision>
  <dcterms:created xsi:type="dcterms:W3CDTF">2025-09-24T08:49:15Z</dcterms:created>
  <dcterms:modified xsi:type="dcterms:W3CDTF">2025-09-24T09:12:14Z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